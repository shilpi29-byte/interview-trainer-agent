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10" r:id="rId14"/>
    <p:sldId id="311" r:id="rId15"/>
    <p:sldId id="304" r:id="rId16"/>
    <p:sldId id="305" r:id="rId17"/>
    <p:sldId id="306" r:id="rId18"/>
    <p:sldId id="307" r:id="rId19"/>
    <p:sldId id="308" r:id="rId20"/>
    <p:sldId id="30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p:cViewPr>
        <p:scale>
          <a:sx n="75" d="100"/>
          <a:sy n="75" d="100"/>
        </p:scale>
        <p:origin x="43" y="1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186B3B2B-498D-AC05-B143-6CF7918279D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C6835DF8-B975-2F42-F34F-A72879FFAB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08AA4A71-FA7E-7665-7436-D3405E9CA9C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604924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5130FB0D-03F5-0AD4-BEB1-8934745B4B8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C56396F9-09C3-F1A6-8CB4-DE04F388E3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A58675D7-85A2-59FA-9394-10E6974D1B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53754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IBM Bob”</a:t>
            </a:r>
            <a:endParaRPr lang="en-IN" dirty="0"/>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740412973"/>
              </p:ext>
            </p:extLst>
          </p:nvPr>
        </p:nvGraphicFramePr>
        <p:xfrm>
          <a:off x="1298864" y="2600315"/>
          <a:ext cx="9395382" cy="2167128"/>
        </p:xfrm>
        <a:graphic>
          <a:graphicData uri="http://schemas.openxmlformats.org/drawingml/2006/table">
            <a:tbl>
              <a:tblPr>
                <a:noFill/>
                <a:tableStyleId>{0AAD8F4D-43EB-41E5-8A38-28AB6DFB1B60}</a:tableStyleId>
              </a:tblPr>
              <a:tblGrid>
                <a:gridCol w="2065260">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endParaRPr lang="en-US" sz="1800" dirty="0"/>
                    </a:p>
                    <a:p>
                      <a:pPr marL="0" marR="0" lvl="0" indent="0" algn="ctr" rtl="0">
                        <a:spcBef>
                          <a:spcPts val="0"/>
                        </a:spcBef>
                        <a:spcAft>
                          <a:spcPts val="0"/>
                        </a:spcAft>
                        <a:buNone/>
                      </a:pPr>
                      <a:r>
                        <a:rPr lang="en-US" sz="1400" dirty="0"/>
                        <a:t>Shilpi Bhakat</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US" dirty="0"/>
                    </a:p>
                    <a:p>
                      <a:pPr marL="0" marR="0" lvl="0" indent="0" algn="ctr" rtl="0">
                        <a:spcBef>
                          <a:spcPts val="0"/>
                        </a:spcBef>
                        <a:spcAft>
                          <a:spcPts val="0"/>
                        </a:spcAft>
                        <a:buNone/>
                      </a:pPr>
                      <a:endParaRPr lang="en-US" dirty="0"/>
                    </a:p>
                    <a:p>
                      <a:pPr marL="0" marR="0" lvl="0" indent="0" algn="l" rtl="0">
                        <a:spcBef>
                          <a:spcPts val="0"/>
                        </a:spcBef>
                        <a:spcAft>
                          <a:spcPts val="0"/>
                        </a:spcAft>
                        <a:buNone/>
                      </a:pPr>
                      <a:r>
                        <a:rPr lang="en-US" sz="1400" dirty="0"/>
                        <a:t>sbjan292005@gmail.com</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US" dirty="0"/>
                    </a:p>
                    <a:p>
                      <a:pPr marL="0" marR="0" lvl="0" indent="0" algn="ctr" rtl="0">
                        <a:spcBef>
                          <a:spcPts val="0"/>
                        </a:spcBef>
                        <a:spcAft>
                          <a:spcPts val="0"/>
                        </a:spcAft>
                        <a:buNone/>
                      </a:pPr>
                      <a:endParaRPr lang="en-US" dirty="0"/>
                    </a:p>
                    <a:p>
                      <a:pPr marL="0" marR="0" lvl="0" indent="0" algn="ctr" rtl="0">
                        <a:spcBef>
                          <a:spcPts val="0"/>
                        </a:spcBef>
                        <a:spcAft>
                          <a:spcPts val="0"/>
                        </a:spcAft>
                        <a:buNone/>
                      </a:pPr>
                      <a:r>
                        <a:rPr lang="en-US" dirty="0"/>
                        <a:t>9907396815</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Career Development</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IN" sz="2400" b="1" dirty="0"/>
              <a:t>Interview Trainer Agent </a:t>
            </a:r>
          </a:p>
        </p:txBody>
      </p:sp>
      <p:pic>
        <p:nvPicPr>
          <p:cNvPr id="5" name="Picture 4">
            <a:extLst>
              <a:ext uri="{FF2B5EF4-FFF2-40B4-BE49-F238E27FC236}">
                <a16:creationId xmlns:a16="http://schemas.microsoft.com/office/drawing/2014/main" id="{39677DF1-DE3A-7665-5330-370B7E2C2D39}"/>
              </a:ext>
            </a:extLst>
          </p:cNvPr>
          <p:cNvPicPr>
            <a:picLocks noChangeAspect="1"/>
          </p:cNvPicPr>
          <p:nvPr/>
        </p:nvPicPr>
        <p:blipFill>
          <a:blip r:embed="rId3"/>
          <a:stretch>
            <a:fillRect/>
          </a:stretch>
        </p:blipFill>
        <p:spPr>
          <a:xfrm>
            <a:off x="3906981" y="3579450"/>
            <a:ext cx="1350819" cy="1187993"/>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1" y="1234440"/>
            <a:ext cx="10770801" cy="5324535"/>
          </a:xfrm>
          <a:prstGeom prst="rect">
            <a:avLst/>
          </a:prstGeom>
          <a:noFill/>
        </p:spPr>
        <p:txBody>
          <a:bodyPr wrap="square" rtlCol="0">
            <a:spAutoFit/>
          </a:bodyPr>
          <a:lstStyle/>
          <a:p>
            <a:pPr algn="just" fontAlgn="base"/>
            <a:r>
              <a:rPr lang="en-US" sz="2000" b="1" dirty="0"/>
              <a:t>Problem Statement : </a:t>
            </a:r>
            <a:r>
              <a:rPr lang="en-IN" sz="2000" b="1" dirty="0"/>
              <a:t>Interview Trainer Agent</a:t>
            </a:r>
            <a:endParaRPr lang="en-US" sz="2000" b="1" dirty="0"/>
          </a:p>
          <a:p>
            <a:pPr algn="just" fontAlgn="base"/>
            <a:endParaRPr lang="en-US" sz="2000" b="1" dirty="0"/>
          </a:p>
          <a:p>
            <a:pPr algn="just" fontAlgn="base"/>
            <a:r>
              <a:rPr lang="en-US" sz="2000" b="1" dirty="0"/>
              <a:t>The Challenge</a:t>
            </a:r>
            <a:r>
              <a:rPr lang="en-US" sz="2000" dirty="0"/>
              <a:t> </a:t>
            </a:r>
          </a:p>
          <a:p>
            <a:pPr algn="just" fontAlgn="base"/>
            <a:r>
              <a:rPr lang="en-IN" sz="2000" dirty="0"/>
              <a:t>Job seekers often struggle with effective and personalized interview preparation. Generic questions may not match their skills, experience, or target job role, while relevant technical, behavioural, and HR interview resources are scattered across different sources.</a:t>
            </a:r>
            <a:endParaRPr lang="en-US" sz="2000" dirty="0"/>
          </a:p>
          <a:p>
            <a:pPr algn="just" fontAlgn="base"/>
            <a:endParaRPr lang="en-US" sz="2000" dirty="0"/>
          </a:p>
          <a:p>
            <a:pPr algn="just" fontAlgn="base"/>
            <a:r>
              <a:rPr lang="en-US" sz="2000" b="1" dirty="0"/>
              <a:t>The Objective</a:t>
            </a:r>
            <a:r>
              <a:rPr lang="en-US" sz="2000" dirty="0"/>
              <a:t> </a:t>
            </a:r>
          </a:p>
          <a:p>
            <a:pPr algn="just"/>
            <a:r>
              <a:rPr lang="en-IN" sz="2000" dirty="0"/>
              <a:t>Build an AI-powered Interview Trainer Agent that provides personalized preparation based on the user's profile, resume, and job role.</a:t>
            </a:r>
          </a:p>
          <a:p>
            <a:pPr marL="342900" lvl="0" indent="-342900" algn="just">
              <a:buFont typeface="Arial" panose="020B0604020202020204" pitchFamily="34" charset="0"/>
              <a:buChar char="•"/>
            </a:pPr>
            <a:r>
              <a:rPr lang="en-IN" sz="2000" b="1" dirty="0"/>
              <a:t>Personalized Questions</a:t>
            </a:r>
            <a:r>
              <a:rPr lang="en-IN" sz="2000" dirty="0"/>
              <a:t> – Generate questions based on profile and target role. </a:t>
            </a:r>
          </a:p>
          <a:p>
            <a:pPr marL="342900" lvl="0" indent="-342900" algn="just">
              <a:buFont typeface="Arial" panose="020B0604020202020204" pitchFamily="34" charset="0"/>
              <a:buChar char="•"/>
            </a:pPr>
            <a:r>
              <a:rPr lang="en-IN" sz="2000" b="1" dirty="0"/>
              <a:t>RAG-Based Retrieval</a:t>
            </a:r>
            <a:r>
              <a:rPr lang="en-IN" sz="2000" dirty="0"/>
              <a:t> – Retrieve relevant questions, industry expectations, and HR guidelines. </a:t>
            </a:r>
          </a:p>
          <a:p>
            <a:pPr marL="342900" lvl="0" indent="-342900" algn="just">
              <a:buFont typeface="Arial" panose="020B0604020202020204" pitchFamily="34" charset="0"/>
              <a:buChar char="•"/>
            </a:pPr>
            <a:r>
              <a:rPr lang="en-IN" sz="2000" b="1" dirty="0"/>
              <a:t>Resume &amp; Job Analysis</a:t>
            </a:r>
            <a:r>
              <a:rPr lang="en-IN" sz="2000" dirty="0"/>
              <a:t> – Provide targeted interview preparation. </a:t>
            </a:r>
          </a:p>
          <a:p>
            <a:pPr marL="342900" lvl="0" indent="-342900" algn="just">
              <a:buFont typeface="Arial" panose="020B0604020202020204" pitchFamily="34" charset="0"/>
              <a:buChar char="•"/>
            </a:pPr>
            <a:r>
              <a:rPr lang="en-IN" sz="2000" b="1" dirty="0"/>
              <a:t>Model Answers &amp; Feedback</a:t>
            </a:r>
            <a:r>
              <a:rPr lang="en-IN" sz="2000" dirty="0"/>
              <a:t> – Suggest answers and improvement tips. </a:t>
            </a:r>
          </a:p>
          <a:p>
            <a:pPr marL="342900" lvl="0" indent="-342900" algn="just">
              <a:buFont typeface="Arial" panose="020B0604020202020204" pitchFamily="34" charset="0"/>
              <a:buChar char="•"/>
            </a:pPr>
            <a:r>
              <a:rPr lang="en-IN" sz="2000" b="1" dirty="0"/>
              <a:t>Skill Assessment</a:t>
            </a:r>
            <a:r>
              <a:rPr lang="en-IN" sz="2000" dirty="0"/>
              <a:t> – Evaluate technical knowledge and communication skills. </a:t>
            </a:r>
          </a:p>
          <a:p>
            <a:endParaRPr lang="en-IN" sz="2000"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523220"/>
          </a:xfrm>
          <a:prstGeom prst="rect">
            <a:avLst/>
          </a:prstGeom>
          <a:noFill/>
        </p:spPr>
        <p:txBody>
          <a:bodyPr wrap="square" rtlCol="0">
            <a:spAutoFit/>
          </a:bodyPr>
          <a:lstStyle/>
          <a:p>
            <a:r>
              <a:rPr lang="en-US" sz="2800" b="1" dirty="0"/>
              <a:t>Problem Statement -</a:t>
            </a:r>
            <a:endParaRPr lang="en-IN" sz="2800" b="1" dirty="0"/>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382286"/>
            <a:ext cx="10607040" cy="4708981"/>
          </a:xfrm>
          <a:prstGeom prst="rect">
            <a:avLst/>
          </a:prstGeom>
          <a:noFill/>
        </p:spPr>
        <p:txBody>
          <a:bodyPr wrap="square" rtlCol="0">
            <a:spAutoFit/>
          </a:bodyPr>
          <a:lstStyle/>
          <a:p>
            <a:r>
              <a:rPr lang="en-IN" sz="2000" dirty="0"/>
              <a:t>The proposed solution is an AI-powered Interview Trainer Agent that uses IBM Granite and RAG to provide personalized and interactive interview preparation.</a:t>
            </a:r>
          </a:p>
          <a:p>
            <a:endParaRPr lang="en-IN" sz="2000" dirty="0"/>
          </a:p>
          <a:p>
            <a:pPr marL="342900" lvl="0" indent="-342900">
              <a:buFont typeface="Arial" panose="020B0604020202020204" pitchFamily="34" charset="0"/>
              <a:buChar char="•"/>
            </a:pPr>
            <a:r>
              <a:rPr lang="en-IN" sz="2000" b="1" dirty="0"/>
              <a:t>Personalized Questions </a:t>
            </a:r>
            <a:r>
              <a:rPr lang="en-IN" sz="2000" dirty="0"/>
              <a:t>– Generates technical, HR, and behavioural questions based on the user’s profile and target job role. </a:t>
            </a:r>
          </a:p>
          <a:p>
            <a:pPr marL="342900" lvl="0" indent="-342900">
              <a:buFont typeface="Arial" panose="020B0604020202020204" pitchFamily="34" charset="0"/>
              <a:buChar char="•"/>
            </a:pPr>
            <a:r>
              <a:rPr lang="en-IN" sz="2000" b="1" dirty="0"/>
              <a:t>Resume &amp; Job Analysis </a:t>
            </a:r>
            <a:r>
              <a:rPr lang="en-IN" sz="2000" dirty="0"/>
              <a:t>– Uses the user’s resume, skills, and experience to create targeted preparation. </a:t>
            </a:r>
          </a:p>
          <a:p>
            <a:pPr marL="342900" lvl="0" indent="-342900">
              <a:buFont typeface="Arial" panose="020B0604020202020204" pitchFamily="34" charset="0"/>
              <a:buChar char="•"/>
            </a:pPr>
            <a:r>
              <a:rPr lang="en-IN" sz="2000" b="1" dirty="0"/>
              <a:t>RAG-Based Retrieval </a:t>
            </a:r>
            <a:r>
              <a:rPr lang="en-IN" sz="2000" dirty="0"/>
              <a:t>– Retrieves relevant interview questions, industry expectations, and HR guidelines. </a:t>
            </a:r>
          </a:p>
          <a:p>
            <a:pPr marL="342900" lvl="0" indent="-342900">
              <a:buFont typeface="Arial" panose="020B0604020202020204" pitchFamily="34" charset="0"/>
              <a:buChar char="•"/>
            </a:pPr>
            <a:r>
              <a:rPr lang="en-IN" sz="2000" b="1" dirty="0"/>
              <a:t>Answer Evaluation </a:t>
            </a:r>
            <a:r>
              <a:rPr lang="en-IN" sz="2000" dirty="0"/>
              <a:t>– Analyses user responses and provides scores, model answers, and improvement suggestions. </a:t>
            </a:r>
          </a:p>
          <a:p>
            <a:pPr marL="342900" lvl="0" indent="-342900">
              <a:buFont typeface="Arial" panose="020B0604020202020204" pitchFamily="34" charset="0"/>
              <a:buChar char="•"/>
            </a:pPr>
            <a:r>
              <a:rPr lang="en-IN" sz="2000" b="1" dirty="0"/>
              <a:t>Performance Tracking </a:t>
            </a:r>
            <a:r>
              <a:rPr lang="en-IN" sz="2000" dirty="0"/>
              <a:t>– Displays strengths, weaknesses, scores, and overall interview progress through a dashboard.</a:t>
            </a:r>
          </a:p>
          <a:p>
            <a:pPr marL="342900" lvl="0" indent="-342900">
              <a:buFont typeface="Arial" panose="020B0604020202020204" pitchFamily="34" charset="0"/>
              <a:buChar char="•"/>
            </a:pPr>
            <a:r>
              <a:rPr lang="en-IN" sz="2000" b="1" dirty="0"/>
              <a:t>Mock Interview Practice</a:t>
            </a:r>
            <a:r>
              <a:rPr lang="en-IN" sz="2000" dirty="0"/>
              <a:t> – Conducts interactive mock interviews and gives real-time feedback to improve confidence and communication skills.</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523220"/>
          </a:xfrm>
          <a:prstGeom prst="rect">
            <a:avLst/>
          </a:prstGeom>
          <a:noFill/>
        </p:spPr>
        <p:txBody>
          <a:bodyPr wrap="square" rtlCol="0">
            <a:spAutoFit/>
          </a:bodyPr>
          <a:lstStyle/>
          <a:p>
            <a:r>
              <a:rPr lang="en-US" sz="2800" b="1" dirty="0"/>
              <a:t>Proposed Solution -</a:t>
            </a:r>
            <a:endParaRPr lang="en-IN" sz="2800" b="1" dirty="0"/>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683721" y="557368"/>
            <a:ext cx="7123176" cy="523220"/>
          </a:xfrm>
          <a:prstGeom prst="rect">
            <a:avLst/>
          </a:prstGeom>
          <a:noFill/>
        </p:spPr>
        <p:txBody>
          <a:bodyPr wrap="square" lIns="91440" tIns="45720" rIns="91440" bIns="45720" rtlCol="0" anchor="t">
            <a:spAutoFit/>
          </a:bodyPr>
          <a:lstStyle/>
          <a:p>
            <a:r>
              <a:rPr lang="en-US" sz="2800" b="1" dirty="0"/>
              <a:t>Technology Used -</a:t>
            </a:r>
            <a:endParaRPr lang="en-IN" sz="28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462760"/>
          </a:xfrm>
          <a:prstGeom prst="rect">
            <a:avLst/>
          </a:prstGeom>
          <a:noFill/>
        </p:spPr>
        <p:txBody>
          <a:bodyPr wrap="square" rtlCol="0">
            <a:spAutoFit/>
          </a:bodyPr>
          <a:lstStyle/>
          <a:p>
            <a:pPr marL="285750" indent="-285750" algn="just">
              <a:buFont typeface="Arial" panose="020B0604020202020204" pitchFamily="34" charset="0"/>
              <a:buChar char="•"/>
            </a:pPr>
            <a:r>
              <a:rPr lang="en-US" sz="2000" b="1" dirty="0"/>
              <a:t>IBM Bob platform </a:t>
            </a:r>
            <a:r>
              <a:rPr lang="en-US" sz="2000" dirty="0"/>
              <a:t>-For designing and orchestrating multi-agent workflows visually</a:t>
            </a:r>
            <a:endParaRPr lang="en-IN" sz="2000" dirty="0"/>
          </a:p>
          <a:p>
            <a:pPr marL="285750" indent="-285750" algn="just">
              <a:buFont typeface="Arial" panose="020B0604020202020204" pitchFamily="34" charset="0"/>
              <a:buChar char="•"/>
            </a:pPr>
            <a:endParaRPr lang="en-IN" sz="2000" b="1" dirty="0"/>
          </a:p>
          <a:p>
            <a:pPr marL="285750" indent="-285750" algn="just">
              <a:buFont typeface="Arial" panose="020B0604020202020204" pitchFamily="34" charset="0"/>
              <a:buChar char="•"/>
            </a:pPr>
            <a:r>
              <a:rPr lang="en-IN" sz="2000" b="1" dirty="0"/>
              <a:t>IBM Granite Model</a:t>
            </a:r>
            <a:r>
              <a:rPr lang="en-IN" sz="2000" dirty="0"/>
              <a:t> – Natural language understanding, reasoning, and personalization </a:t>
            </a:r>
          </a:p>
          <a:p>
            <a:pPr marL="285750" indent="-285750" algn="just">
              <a:buFont typeface="Arial" panose="020B0604020202020204" pitchFamily="34" charset="0"/>
              <a:buChar char="•"/>
            </a:pPr>
            <a:endParaRPr lang="en-IN" sz="2000" b="1" dirty="0"/>
          </a:p>
          <a:p>
            <a:pPr marL="285750" indent="-285750" algn="just">
              <a:buFont typeface="Arial" panose="020B0604020202020204" pitchFamily="34" charset="0"/>
              <a:buChar char="•"/>
            </a:pPr>
            <a:r>
              <a:rPr lang="en-IN" sz="2000" b="1" dirty="0"/>
              <a:t>IBM Cloud</a:t>
            </a:r>
            <a:r>
              <a:rPr lang="en-IN" sz="2000" dirty="0"/>
              <a:t> – Secure and scalable deployment </a:t>
            </a:r>
          </a:p>
          <a:p>
            <a:pPr marL="285750" indent="-285750" algn="just">
              <a:buFont typeface="Arial" panose="020B0604020202020204" pitchFamily="34" charset="0"/>
              <a:buChar char="•"/>
            </a:pPr>
            <a:endParaRPr lang="en-IN" sz="2000" b="1" dirty="0"/>
          </a:p>
          <a:p>
            <a:pPr marL="285750" indent="-285750" algn="just">
              <a:buFont typeface="Arial" panose="020B0604020202020204" pitchFamily="34" charset="0"/>
              <a:buChar char="•"/>
            </a:pPr>
            <a:r>
              <a:rPr lang="en-IN" sz="2000" b="1" dirty="0"/>
              <a:t>RAG</a:t>
            </a:r>
            <a:r>
              <a:rPr lang="en-IN" sz="2000" dirty="0"/>
              <a:t> – Retrieves relevant interview information for accurate responses </a:t>
            </a:r>
          </a:p>
          <a:p>
            <a:pPr marL="285750" indent="-285750" algn="just">
              <a:buFont typeface="Arial" panose="020B0604020202020204" pitchFamily="34" charset="0"/>
              <a:buChar char="•"/>
            </a:pPr>
            <a:endParaRPr lang="en-IN" sz="2000" b="1" dirty="0"/>
          </a:p>
          <a:p>
            <a:pPr marL="285750" indent="-285750" algn="just">
              <a:buFont typeface="Arial" panose="020B0604020202020204" pitchFamily="34" charset="0"/>
              <a:buChar char="•"/>
            </a:pPr>
            <a:r>
              <a:rPr lang="en-IN" sz="2000" b="1" dirty="0"/>
              <a:t>IBM watsonx.ai</a:t>
            </a:r>
            <a:r>
              <a:rPr lang="en-IN" sz="2000" dirty="0"/>
              <a:t> – Model deployment, embeddings, and AI governance</a:t>
            </a:r>
          </a:p>
          <a:p>
            <a:pPr marL="285750" indent="-285750" algn="just">
              <a:buFont typeface="Arial" panose="020B0604020202020204" pitchFamily="34" charset="0"/>
              <a:buChar char="•"/>
            </a:pPr>
            <a:endParaRPr lang="en-IN" sz="2000" dirty="0"/>
          </a:p>
          <a:p>
            <a:pPr marL="285750" indent="-285750" algn="just">
              <a:buFont typeface="Arial" panose="020B0604020202020204" pitchFamily="34" charset="0"/>
              <a:buChar char="•"/>
            </a:pPr>
            <a:r>
              <a:rPr lang="en-IN" sz="2000" b="1" dirty="0"/>
              <a:t>Vector Database (FAISS/Chroma)</a:t>
            </a:r>
            <a:r>
              <a:rPr lang="en-IN" sz="2000" dirty="0"/>
              <a:t> – Stores and retrieves interview-related data for RAG</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6988708" cy="33498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800" b="1" dirty="0">
                <a:sym typeface="Times New Roman"/>
              </a:rPr>
              <a:t>Required Files created using IBM bob -</a:t>
            </a:r>
            <a:endParaRPr sz="28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6" name="Picture 5">
            <a:extLst>
              <a:ext uri="{FF2B5EF4-FFF2-40B4-BE49-F238E27FC236}">
                <a16:creationId xmlns:a16="http://schemas.microsoft.com/office/drawing/2014/main" id="{2D41F592-A3A6-55A5-4815-0F1081FB98F8}"/>
              </a:ext>
            </a:extLst>
          </p:cNvPr>
          <p:cNvPicPr>
            <a:picLocks noChangeAspect="1"/>
          </p:cNvPicPr>
          <p:nvPr/>
        </p:nvPicPr>
        <p:blipFill>
          <a:blip r:embed="rId3"/>
          <a:stretch>
            <a:fillRect/>
          </a:stretch>
        </p:blipFill>
        <p:spPr>
          <a:xfrm>
            <a:off x="537590" y="949727"/>
            <a:ext cx="11043920" cy="5585034"/>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 </a:t>
            </a:r>
            <a:r>
              <a:rPr lang="en-US" sz="2800" b="1" i="0" u="none" strike="noStrike" cap="none" dirty="0">
                <a:solidFill>
                  <a:srgbClr val="051D3A"/>
                </a:solidFill>
                <a:latin typeface="+mj-lt"/>
                <a:ea typeface="Times New Roman"/>
                <a:cs typeface="Times New Roman"/>
                <a:sym typeface="Times New Roman"/>
              </a:rPr>
              <a:t>IBM Bob Screenshots-</a:t>
            </a:r>
            <a:endParaRPr sz="2800" b="1" dirty="0">
              <a:latin typeface="+mj-lt"/>
              <a:sym typeface="Times New Roman"/>
            </a:endParaRPr>
          </a:p>
        </p:txBody>
      </p:sp>
      <p:pic>
        <p:nvPicPr>
          <p:cNvPr id="5" name="Picture 4">
            <a:extLst>
              <a:ext uri="{FF2B5EF4-FFF2-40B4-BE49-F238E27FC236}">
                <a16:creationId xmlns:a16="http://schemas.microsoft.com/office/drawing/2014/main" id="{BEE43E43-56B1-0759-DE4C-3D94737B0C1A}"/>
              </a:ext>
            </a:extLst>
          </p:cNvPr>
          <p:cNvPicPr>
            <a:picLocks noChangeAspect="1"/>
          </p:cNvPicPr>
          <p:nvPr/>
        </p:nvPicPr>
        <p:blipFill>
          <a:blip r:embed="rId3"/>
          <a:srcRect b="5247"/>
          <a:stretch>
            <a:fillRect/>
          </a:stretch>
        </p:blipFill>
        <p:spPr>
          <a:xfrm>
            <a:off x="537590" y="1016000"/>
            <a:ext cx="11116820" cy="5415280"/>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DD7D7AE-CE1D-8D64-19E7-6297C34C64A0}"/>
              </a:ext>
            </a:extLst>
          </p:cNvPr>
          <p:cNvPicPr>
            <a:picLocks noChangeAspect="1"/>
          </p:cNvPicPr>
          <p:nvPr/>
        </p:nvPicPr>
        <p:blipFill>
          <a:blip r:embed="rId2"/>
          <a:srcRect b="5491"/>
          <a:stretch>
            <a:fillRect/>
          </a:stretch>
        </p:blipFill>
        <p:spPr>
          <a:xfrm>
            <a:off x="446809" y="252250"/>
            <a:ext cx="11346874" cy="6242068"/>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6808783" cy="448508"/>
          </a:xfrm>
          <a:prstGeom prst="rect">
            <a:avLst/>
          </a:prstGeom>
          <a:noFill/>
          <a:ln>
            <a:noFill/>
          </a:ln>
        </p:spPr>
        <p:txBody>
          <a:bodyPr spcFirstLastPara="1" wrap="square" lIns="0" tIns="0" rIns="0" bIns="0" anchor="t" anchorCtr="0">
            <a:noAutofit/>
          </a:bodyPr>
          <a:lstStyle/>
          <a:p>
            <a:pPr lvl="0"/>
            <a:r>
              <a:rPr lang="en-US" sz="2800" b="1" dirty="0">
                <a:solidFill>
                  <a:schemeClr val="dk1"/>
                </a:solidFill>
                <a:latin typeface="+mj-lt"/>
                <a:ea typeface="Calibri"/>
                <a:cs typeface="Calibri"/>
                <a:sym typeface="Calibri"/>
              </a:rPr>
              <a:t>Architecture blueprint for IBM bob -</a:t>
            </a:r>
            <a:endParaRPr lang="en-US" sz="2800" dirty="0">
              <a:latin typeface="+mj-lt"/>
            </a:endParaRPr>
          </a:p>
        </p:txBody>
      </p:sp>
      <p:pic>
        <p:nvPicPr>
          <p:cNvPr id="8" name="Picture 7">
            <a:extLst>
              <a:ext uri="{FF2B5EF4-FFF2-40B4-BE49-F238E27FC236}">
                <a16:creationId xmlns:a16="http://schemas.microsoft.com/office/drawing/2014/main" id="{E79ACDA2-ED76-AB16-5023-41555107F761}"/>
              </a:ext>
            </a:extLst>
          </p:cNvPr>
          <p:cNvPicPr>
            <a:picLocks noChangeAspect="1"/>
          </p:cNvPicPr>
          <p:nvPr/>
        </p:nvPicPr>
        <p:blipFill>
          <a:blip r:embed="rId3"/>
          <a:stretch>
            <a:fillRect/>
          </a:stretch>
        </p:blipFill>
        <p:spPr>
          <a:xfrm>
            <a:off x="644236" y="771748"/>
            <a:ext cx="10827327" cy="5992734"/>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23220"/>
          </a:xfrm>
          <a:prstGeom prst="rect">
            <a:avLst/>
          </a:prstGeom>
          <a:noFill/>
        </p:spPr>
        <p:txBody>
          <a:bodyPr wrap="square" rtlCol="0">
            <a:spAutoFit/>
          </a:bodyPr>
          <a:lstStyle/>
          <a:p>
            <a:r>
              <a:rPr lang="en-US" sz="2800" b="1" dirty="0"/>
              <a:t>Role of Agentic AI in the solution - </a:t>
            </a:r>
            <a:endParaRPr lang="en-IN" sz="28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1" y="1167493"/>
            <a:ext cx="7597417" cy="4708981"/>
          </a:xfrm>
          <a:prstGeom prst="rect">
            <a:avLst/>
          </a:prstGeom>
          <a:noFill/>
        </p:spPr>
        <p:txBody>
          <a:bodyPr wrap="square" rtlCol="0">
            <a:spAutoFit/>
          </a:bodyPr>
          <a:lstStyle/>
          <a:p>
            <a:r>
              <a:rPr lang="en-IN" sz="2000" b="1" dirty="0"/>
              <a:t>Role of Agentic AI in Interview Trainer Agent</a:t>
            </a:r>
          </a:p>
          <a:p>
            <a:endParaRPr lang="en-IN" sz="2000" b="1" dirty="0"/>
          </a:p>
          <a:p>
            <a:pPr algn="just"/>
            <a:r>
              <a:rPr lang="en-IN" sz="2000" dirty="0"/>
              <a:t>Agentic AI makes the Interview Trainer Agent intelligent and adaptive by using IBM </a:t>
            </a:r>
            <a:r>
              <a:rPr lang="en-IN" sz="2000" dirty="0" err="1"/>
              <a:t>watsonx</a:t>
            </a:r>
            <a:r>
              <a:rPr lang="en-IN" sz="2000" dirty="0"/>
              <a:t> Orchestrate and IBM Granite to coordinate specialized agents.</a:t>
            </a:r>
          </a:p>
          <a:p>
            <a:pPr marL="342900" lvl="0" indent="-342900" algn="just">
              <a:buFont typeface="Arial" panose="020B0604020202020204" pitchFamily="34" charset="0"/>
              <a:buChar char="•"/>
            </a:pPr>
            <a:r>
              <a:rPr lang="en-IN" sz="2000" b="1" dirty="0"/>
              <a:t>Question Generation</a:t>
            </a:r>
            <a:r>
              <a:rPr lang="en-IN" sz="2000" dirty="0"/>
              <a:t> – Creates role-specific interview questions. </a:t>
            </a:r>
          </a:p>
          <a:p>
            <a:pPr marL="342900" lvl="0" indent="-342900" algn="just">
              <a:buFont typeface="Arial" panose="020B0604020202020204" pitchFamily="34" charset="0"/>
              <a:buChar char="•"/>
            </a:pPr>
            <a:r>
              <a:rPr lang="en-IN" sz="2000" b="1" dirty="0"/>
              <a:t>Resume Analysis</a:t>
            </a:r>
            <a:r>
              <a:rPr lang="en-IN" sz="2000" dirty="0"/>
              <a:t> – Uses skills and experience for personalized preparation. </a:t>
            </a:r>
          </a:p>
          <a:p>
            <a:pPr marL="342900" lvl="0" indent="-342900" algn="just">
              <a:buFont typeface="Arial" panose="020B0604020202020204" pitchFamily="34" charset="0"/>
              <a:buChar char="•"/>
            </a:pPr>
            <a:r>
              <a:rPr lang="en-IN" sz="2000" b="1" dirty="0"/>
              <a:t>Answer Evaluation</a:t>
            </a:r>
            <a:r>
              <a:rPr lang="en-IN" sz="2000" dirty="0"/>
              <a:t> – Analyses responses and performance. </a:t>
            </a:r>
          </a:p>
          <a:p>
            <a:pPr marL="342900" lvl="0" indent="-342900" algn="just">
              <a:buFont typeface="Arial" panose="020B0604020202020204" pitchFamily="34" charset="0"/>
              <a:buChar char="•"/>
            </a:pPr>
            <a:r>
              <a:rPr lang="en-IN" sz="2000" b="1" dirty="0"/>
              <a:t>Feedback</a:t>
            </a:r>
            <a:r>
              <a:rPr lang="en-IN" sz="2000" dirty="0"/>
              <a:t> – Provides improvement suggestions. </a:t>
            </a:r>
          </a:p>
          <a:p>
            <a:pPr marL="342900" lvl="0" indent="-342900" algn="just">
              <a:buFont typeface="Arial" panose="020B0604020202020204" pitchFamily="34" charset="0"/>
              <a:buChar char="•"/>
            </a:pPr>
            <a:r>
              <a:rPr lang="en-IN" sz="2000" b="1" dirty="0"/>
              <a:t>Adaptive Practice</a:t>
            </a:r>
            <a:r>
              <a:rPr lang="en-IN" sz="2000" dirty="0"/>
              <a:t> – Adjusts questions based on user responses. </a:t>
            </a:r>
          </a:p>
          <a:p>
            <a:pPr algn="just"/>
            <a:r>
              <a:rPr lang="en-IN" sz="2000" dirty="0"/>
              <a:t>Overall, it works as a smart virtual interview coach that provides personalized and interactive preparation.</a:t>
            </a:r>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800" b="1" dirty="0">
                <a:sym typeface="Times New Roman"/>
              </a:rPr>
              <a:t>Token Usage - </a:t>
            </a:r>
            <a:endParaRPr sz="2800" b="1" dirty="0">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765007" y="1042590"/>
            <a:ext cx="437117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3694 token are used</a:t>
            </a:r>
          </a:p>
        </p:txBody>
      </p:sp>
      <p:sp>
        <p:nvSpPr>
          <p:cNvPr id="14" name="TextBox 13">
            <a:extLst>
              <a:ext uri="{FF2B5EF4-FFF2-40B4-BE49-F238E27FC236}">
                <a16:creationId xmlns:a16="http://schemas.microsoft.com/office/drawing/2014/main" id="{7B8E599E-5B1D-59CD-4F1D-CEF8D0CA327B}"/>
              </a:ext>
            </a:extLst>
          </p:cNvPr>
          <p:cNvSpPr txBox="1"/>
          <p:nvPr/>
        </p:nvSpPr>
        <p:spPr>
          <a:xfrm>
            <a:off x="2026784" y="1771536"/>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dirty="0"/>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854973" y="175280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dirty="0"/>
              <a:t>After the Prompt</a:t>
            </a:r>
          </a:p>
        </p:txBody>
      </p:sp>
      <p:pic>
        <p:nvPicPr>
          <p:cNvPr id="3" name="Picture 2">
            <a:extLst>
              <a:ext uri="{FF2B5EF4-FFF2-40B4-BE49-F238E27FC236}">
                <a16:creationId xmlns:a16="http://schemas.microsoft.com/office/drawing/2014/main" id="{176F91C1-9B9B-B274-7509-2F062549F3BA}"/>
              </a:ext>
            </a:extLst>
          </p:cNvPr>
          <p:cNvPicPr>
            <a:picLocks noChangeAspect="1"/>
          </p:cNvPicPr>
          <p:nvPr/>
        </p:nvPicPr>
        <p:blipFill>
          <a:blip r:embed="rId3"/>
          <a:srcRect t="5548"/>
          <a:stretch>
            <a:fillRect/>
          </a:stretch>
        </p:blipFill>
        <p:spPr>
          <a:xfrm>
            <a:off x="765007" y="2314489"/>
            <a:ext cx="4913288" cy="2857501"/>
          </a:xfrm>
          <a:prstGeom prst="rect">
            <a:avLst/>
          </a:prstGeom>
        </p:spPr>
      </p:pic>
      <p:pic>
        <p:nvPicPr>
          <p:cNvPr id="6" name="Picture 5">
            <a:extLst>
              <a:ext uri="{FF2B5EF4-FFF2-40B4-BE49-F238E27FC236}">
                <a16:creationId xmlns:a16="http://schemas.microsoft.com/office/drawing/2014/main" id="{2655D215-D645-B31D-4EE6-D86CF38FA389}"/>
              </a:ext>
            </a:extLst>
          </p:cNvPr>
          <p:cNvPicPr>
            <a:picLocks noChangeAspect="1"/>
          </p:cNvPicPr>
          <p:nvPr/>
        </p:nvPicPr>
        <p:blipFill>
          <a:blip r:embed="rId4"/>
          <a:srcRect t="4424"/>
          <a:stretch>
            <a:fillRect/>
          </a:stretch>
        </p:blipFill>
        <p:spPr>
          <a:xfrm>
            <a:off x="6431972" y="2314489"/>
            <a:ext cx="5112328" cy="2857501"/>
          </a:xfrm>
          <a:prstGeom prst="rect">
            <a:avLst/>
          </a:prstGeom>
        </p:spPr>
      </p:pic>
    </p:spTree>
    <p:extLst>
      <p:ext uri="{BB962C8B-B14F-4D97-AF65-F5344CB8AC3E}">
        <p14:creationId xmlns:p14="http://schemas.microsoft.com/office/powerpoint/2010/main" val="89341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800" b="1" dirty="0">
                <a:sym typeface="Times New Roman"/>
              </a:rPr>
              <a:t> Project Output Screenshot -</a:t>
            </a:r>
            <a:endParaRPr sz="2800" b="1" dirty="0">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40E7723F-4F06-4FE1-4632-5B0A15FD938F}"/>
              </a:ext>
            </a:extLst>
          </p:cNvPr>
          <p:cNvPicPr>
            <a:picLocks noChangeAspect="1"/>
          </p:cNvPicPr>
          <p:nvPr/>
        </p:nvPicPr>
        <p:blipFill>
          <a:blip r:embed="rId3"/>
          <a:srcRect b="5694"/>
          <a:stretch>
            <a:fillRect/>
          </a:stretch>
        </p:blipFill>
        <p:spPr>
          <a:xfrm>
            <a:off x="497840" y="816977"/>
            <a:ext cx="11285016" cy="5543184"/>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26C2253F-B965-E71D-E280-71DDE374F4B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B97FB12C-C51B-1A7C-D166-D138F7CB7274}"/>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800" b="1" dirty="0">
                <a:sym typeface="Times New Roman"/>
              </a:rPr>
              <a:t> Project Output Screenshot -</a:t>
            </a:r>
            <a:endParaRPr sz="2800" b="1" dirty="0">
              <a:sym typeface="Times New Roman"/>
            </a:endParaRPr>
          </a:p>
        </p:txBody>
      </p:sp>
      <p:sp>
        <p:nvSpPr>
          <p:cNvPr id="280" name="Google Shape;280;p18">
            <a:extLst>
              <a:ext uri="{FF2B5EF4-FFF2-40B4-BE49-F238E27FC236}">
                <a16:creationId xmlns:a16="http://schemas.microsoft.com/office/drawing/2014/main" id="{1B020B23-F70E-A8E8-1974-F5316A6657B0}"/>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830DDAE-036A-3E3A-26B2-A4B8C818AE1D}"/>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205E689-D1A6-C034-53CE-A1EA24E5CD27}"/>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7FA7644E-9ECE-6603-0A8E-88F30B31C5AF}"/>
              </a:ext>
            </a:extLst>
          </p:cNvPr>
          <p:cNvPicPr>
            <a:picLocks noChangeAspect="1"/>
          </p:cNvPicPr>
          <p:nvPr/>
        </p:nvPicPr>
        <p:blipFill>
          <a:blip r:embed="rId3"/>
          <a:srcRect b="5776"/>
          <a:stretch>
            <a:fillRect/>
          </a:stretch>
        </p:blipFill>
        <p:spPr>
          <a:xfrm>
            <a:off x="518160" y="816977"/>
            <a:ext cx="11264696" cy="5553344"/>
          </a:xfrm>
          <a:prstGeom prst="rect">
            <a:avLst/>
          </a:prstGeom>
        </p:spPr>
      </p:pic>
    </p:spTree>
    <p:extLst>
      <p:ext uri="{BB962C8B-B14F-4D97-AF65-F5344CB8AC3E}">
        <p14:creationId xmlns:p14="http://schemas.microsoft.com/office/powerpoint/2010/main" val="10318069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9C4FFD8E-2567-5E69-A182-6B7631474E3D}"/>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28612D9-565E-DAED-8CBD-FCC2D7E1C265}"/>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800" b="1" dirty="0">
                <a:sym typeface="Times New Roman"/>
              </a:rPr>
              <a:t> Project Output Screenshot -</a:t>
            </a:r>
            <a:endParaRPr sz="2800" b="1" dirty="0">
              <a:sym typeface="Times New Roman"/>
            </a:endParaRPr>
          </a:p>
        </p:txBody>
      </p:sp>
      <p:sp>
        <p:nvSpPr>
          <p:cNvPr id="280" name="Google Shape;280;p18">
            <a:extLst>
              <a:ext uri="{FF2B5EF4-FFF2-40B4-BE49-F238E27FC236}">
                <a16:creationId xmlns:a16="http://schemas.microsoft.com/office/drawing/2014/main" id="{B9C57AE5-F3FF-E0FB-AE35-F951B67E6F8F}"/>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251791A6-7333-97E7-3407-78596554E8F5}"/>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50EFFEE8-627D-9F6D-04C2-711006755258}"/>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CDF224D9-A180-331C-4BA7-5C665A4BC4A3}"/>
              </a:ext>
            </a:extLst>
          </p:cNvPr>
          <p:cNvPicPr>
            <a:picLocks noChangeAspect="1"/>
          </p:cNvPicPr>
          <p:nvPr/>
        </p:nvPicPr>
        <p:blipFill>
          <a:blip r:embed="rId3"/>
          <a:srcRect b="5500"/>
          <a:stretch>
            <a:fillRect/>
          </a:stretch>
        </p:blipFill>
        <p:spPr>
          <a:xfrm>
            <a:off x="508000" y="816977"/>
            <a:ext cx="11165840" cy="5593983"/>
          </a:xfrm>
          <a:prstGeom prst="rect">
            <a:avLst/>
          </a:prstGeom>
        </p:spPr>
      </p:pic>
    </p:spTree>
    <p:extLst>
      <p:ext uri="{BB962C8B-B14F-4D97-AF65-F5344CB8AC3E}">
        <p14:creationId xmlns:p14="http://schemas.microsoft.com/office/powerpoint/2010/main" val="18732797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281432"/>
            <a:ext cx="7123176" cy="523220"/>
          </a:xfrm>
          <a:prstGeom prst="rect">
            <a:avLst/>
          </a:prstGeom>
          <a:noFill/>
        </p:spPr>
        <p:txBody>
          <a:bodyPr wrap="square" rtlCol="0">
            <a:spAutoFit/>
          </a:bodyPr>
          <a:lstStyle/>
          <a:p>
            <a:r>
              <a:rPr lang="en-US" sz="2800" b="1" dirty="0"/>
              <a:t>Novelty and Uniqueness -</a:t>
            </a:r>
            <a:endParaRPr lang="en-IN" sz="28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896092"/>
            <a:ext cx="10165080" cy="5847755"/>
          </a:xfrm>
          <a:prstGeom prst="rect">
            <a:avLst/>
          </a:prstGeom>
          <a:noFill/>
        </p:spPr>
        <p:txBody>
          <a:bodyPr wrap="square" rtlCol="0">
            <a:spAutoFit/>
          </a:bodyPr>
          <a:lstStyle/>
          <a:p>
            <a:pPr algn="just"/>
            <a:r>
              <a:rPr lang="en-IN" sz="1800" dirty="0"/>
              <a:t>The proposed Interview Trainer Agent stands out by combining Agentic AI, RAG, and personalization into one intelligent interview preparation system.</a:t>
            </a:r>
          </a:p>
          <a:p>
            <a:pPr algn="just"/>
            <a:endParaRPr lang="en-IN" sz="1800" dirty="0"/>
          </a:p>
          <a:p>
            <a:pPr marL="285750" lvl="0" indent="-285750" algn="just">
              <a:buFont typeface="Arial" panose="020B0604020202020204" pitchFamily="34" charset="0"/>
              <a:buChar char="•"/>
            </a:pPr>
            <a:r>
              <a:rPr lang="en-IN" sz="1800" b="1" dirty="0"/>
              <a:t>Multi-Agent Intelligence</a:t>
            </a:r>
            <a:r>
              <a:rPr lang="en-IN" sz="1800" dirty="0"/>
              <a:t> – Specialized agents collaborate for question generation, evaluation, and feedback.</a:t>
            </a:r>
          </a:p>
          <a:p>
            <a:pPr lvl="0" algn="just"/>
            <a:r>
              <a:rPr lang="en-IN" sz="1800" dirty="0"/>
              <a:t> </a:t>
            </a:r>
          </a:p>
          <a:p>
            <a:pPr marL="285750" lvl="0" indent="-285750" algn="just">
              <a:buFont typeface="Arial" panose="020B0604020202020204" pitchFamily="34" charset="0"/>
              <a:buChar char="•"/>
            </a:pPr>
            <a:r>
              <a:rPr lang="en-IN" sz="1800" b="1" dirty="0"/>
              <a:t>RAG-Based Accuracy</a:t>
            </a:r>
            <a:r>
              <a:rPr lang="en-IN" sz="1800" dirty="0"/>
              <a:t> – Retrieves relevant interview information before generating responses.</a:t>
            </a:r>
          </a:p>
          <a:p>
            <a:pPr marL="285750" lvl="0" indent="-285750" algn="just">
              <a:buFont typeface="Arial" panose="020B0604020202020204" pitchFamily="34" charset="0"/>
              <a:buChar char="•"/>
            </a:pPr>
            <a:endParaRPr lang="en-IN" sz="1800" b="1" dirty="0"/>
          </a:p>
          <a:p>
            <a:pPr marL="285750" lvl="0" indent="-285750" algn="just">
              <a:buFont typeface="Arial" panose="020B0604020202020204" pitchFamily="34" charset="0"/>
              <a:buChar char="•"/>
            </a:pPr>
            <a:r>
              <a:rPr lang="en-IN" sz="1800" b="1" dirty="0"/>
              <a:t>Personalized Preparation</a:t>
            </a:r>
            <a:r>
              <a:rPr lang="en-IN" sz="1800" dirty="0"/>
              <a:t> – Tailors questions based on resume, skills, experience, and job role. </a:t>
            </a:r>
          </a:p>
          <a:p>
            <a:pPr marL="285750" lvl="0" indent="-285750" algn="just">
              <a:buFont typeface="Arial" panose="020B0604020202020204" pitchFamily="34" charset="0"/>
              <a:buChar char="•"/>
            </a:pPr>
            <a:endParaRPr lang="en-IN" sz="1800" b="1" dirty="0"/>
          </a:p>
          <a:p>
            <a:pPr marL="285750" lvl="0" indent="-285750" algn="just">
              <a:buFont typeface="Arial" panose="020B0604020202020204" pitchFamily="34" charset="0"/>
              <a:buChar char="•"/>
            </a:pPr>
            <a:r>
              <a:rPr lang="en-IN" sz="1800" b="1" dirty="0"/>
              <a:t>Adaptive Feedback</a:t>
            </a:r>
            <a:r>
              <a:rPr lang="en-IN" sz="1800" dirty="0"/>
              <a:t> – Adjusts preparation based on the user’s performance. </a:t>
            </a:r>
          </a:p>
          <a:p>
            <a:pPr marL="285750" lvl="0" indent="-285750" algn="just">
              <a:buFont typeface="Arial" panose="020B0604020202020204" pitchFamily="34" charset="0"/>
              <a:buChar char="•"/>
            </a:pPr>
            <a:endParaRPr lang="en-IN" sz="1800" b="1" dirty="0"/>
          </a:p>
          <a:p>
            <a:pPr marL="285750" lvl="0" indent="-285750" algn="just">
              <a:buFont typeface="Arial" panose="020B0604020202020204" pitchFamily="34" charset="0"/>
              <a:buChar char="•"/>
            </a:pPr>
            <a:r>
              <a:rPr lang="en-IN" sz="1800" b="1" dirty="0"/>
              <a:t>Mock Interview Practice</a:t>
            </a:r>
            <a:r>
              <a:rPr lang="en-IN" sz="1800" dirty="0"/>
              <a:t> – Provides an interactive and realistic interview experience. </a:t>
            </a:r>
          </a:p>
          <a:p>
            <a:pPr marL="285750" lvl="0" indent="-285750" algn="just">
              <a:buFont typeface="Arial" panose="020B0604020202020204" pitchFamily="34" charset="0"/>
              <a:buChar char="•"/>
            </a:pPr>
            <a:endParaRPr lang="en-IN" sz="1800" b="1" dirty="0"/>
          </a:p>
          <a:p>
            <a:pPr marL="285750" lvl="0" indent="-285750" algn="just">
              <a:buFont typeface="Arial" panose="020B0604020202020204" pitchFamily="34" charset="0"/>
              <a:buChar char="•"/>
            </a:pPr>
            <a:r>
              <a:rPr lang="en-IN" sz="1800" b="1" dirty="0"/>
              <a:t>IBM-Based Solution</a:t>
            </a:r>
            <a:r>
              <a:rPr lang="en-IN" sz="1800" dirty="0"/>
              <a:t> – Uses IBM Granite and </a:t>
            </a:r>
            <a:r>
              <a:rPr lang="en-IN" sz="1800" dirty="0" err="1"/>
              <a:t>watsonx</a:t>
            </a:r>
            <a:r>
              <a:rPr lang="en-IN" sz="1800" dirty="0"/>
              <a:t> Orchestrate for intelligent and scalable AI workflows.</a:t>
            </a:r>
          </a:p>
          <a:p>
            <a:pPr lvl="0" algn="just"/>
            <a:r>
              <a:rPr lang="en-IN" sz="1800" dirty="0"/>
              <a:t> </a:t>
            </a:r>
          </a:p>
          <a:p>
            <a:pPr algn="just"/>
            <a:r>
              <a:rPr lang="en-IN" sz="1800" dirty="0"/>
              <a:t>This makes the solution a smart, adaptive, and personalized virtual interview coach rather than a basic chatbot.</a:t>
            </a:r>
          </a:p>
          <a:p>
            <a:endParaRPr lang="en-IN" dirty="0"/>
          </a:p>
        </p:txBody>
      </p:sp>
    </p:spTree>
    <p:extLst>
      <p:ext uri="{BB962C8B-B14F-4D97-AF65-F5344CB8AC3E}">
        <p14:creationId xmlns:p14="http://schemas.microsoft.com/office/powerpoint/2010/main" val="2325282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Git Hub Link -</a:t>
            </a:r>
            <a:endParaRPr sz="28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IN" sz="2000" dirty="0">
                <a:latin typeface="+mn-lt"/>
                <a:ea typeface="Times New Roman"/>
                <a:cs typeface="Times New Roman"/>
                <a:sym typeface="Times New Roman"/>
              </a:rPr>
              <a:t>https://github.com/Shilpi29-byte/Interview-Trainer-Agent.git</a:t>
            </a:r>
            <a:endParaRPr sz="2000" b="0" i="0" u="none" strike="noStrike" cap="none" dirty="0">
              <a:solidFill>
                <a:srgbClr val="000000"/>
              </a:solidFill>
              <a:latin typeface="+mn-lt"/>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Future Scope -</a:t>
            </a:r>
            <a:endParaRPr sz="28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571196" cy="4823485"/>
          </a:xfrm>
          <a:prstGeom prst="rect">
            <a:avLst/>
          </a:prstGeom>
          <a:noFill/>
          <a:ln>
            <a:noFill/>
          </a:ln>
        </p:spPr>
        <p:txBody>
          <a:bodyPr spcFirstLastPara="1" wrap="square" lIns="0" tIns="0" rIns="0" bIns="0" anchor="t" anchorCtr="0">
            <a:noAutofit/>
          </a:bodyPr>
          <a:lstStyle/>
          <a:p>
            <a:pPr marL="457200" indent="-457200">
              <a:buAutoNum type="arabicPeriod"/>
            </a:pPr>
            <a:r>
              <a:rPr lang="en-IN" sz="2000" b="1" dirty="0"/>
              <a:t>AI Voice Interview &amp; Multilingual Support</a:t>
            </a:r>
            <a:r>
              <a:rPr lang="en-IN" sz="2000" dirty="0"/>
              <a:t> –</a:t>
            </a:r>
            <a:br>
              <a:rPr lang="en-IN" sz="2000" dirty="0"/>
            </a:br>
            <a:r>
              <a:rPr lang="en-IN" sz="2000" dirty="0"/>
              <a:t>The system can be enhanced with voice-based interviews and multiple languages, allowing users to practice naturally and improving accessibility.</a:t>
            </a:r>
          </a:p>
          <a:p>
            <a:pPr marL="457200" indent="-457200">
              <a:buAutoNum type="arabicPeriod"/>
            </a:pPr>
            <a:endParaRPr lang="en-IN" sz="2000" b="1" dirty="0"/>
          </a:p>
          <a:p>
            <a:pPr marL="457200" indent="-457200">
              <a:buAutoNum type="arabicPeriod"/>
            </a:pPr>
            <a:r>
              <a:rPr lang="en-IN" sz="2000" b="1" dirty="0"/>
              <a:t>Advanced Performance Analytics</a:t>
            </a:r>
            <a:r>
              <a:rPr lang="en-IN" sz="2000" dirty="0"/>
              <a:t> –</a:t>
            </a:r>
            <a:br>
              <a:rPr lang="en-IN" sz="2000" dirty="0"/>
            </a:br>
            <a:r>
              <a:rPr lang="en-IN" sz="2000" dirty="0"/>
              <a:t>Future versions can provide detailed performance analysis, tracking response quality, interview scores, strengths, and areas for improvement.</a:t>
            </a:r>
          </a:p>
          <a:p>
            <a:pPr marL="457200" indent="-457200">
              <a:buAutoNum type="arabicPeriod"/>
            </a:pPr>
            <a:endParaRPr lang="en-IN" sz="2000" b="1" dirty="0"/>
          </a:p>
          <a:p>
            <a:pPr marL="457200" indent="-457200">
              <a:buAutoNum type="arabicPeriod"/>
            </a:pPr>
            <a:r>
              <a:rPr lang="en-IN" sz="2000" b="1" dirty="0"/>
              <a:t>Real-Time Mock Interviews</a:t>
            </a:r>
            <a:r>
              <a:rPr lang="en-IN" sz="2000" dirty="0"/>
              <a:t> –</a:t>
            </a:r>
            <a:br>
              <a:rPr lang="en-IN" sz="2000" dirty="0"/>
            </a:br>
            <a:r>
              <a:rPr lang="en-IN" sz="2000" dirty="0"/>
              <a:t>The agent can conduct dynamic mock interviews, adapting questions based on the user's answers and performance.</a:t>
            </a:r>
          </a:p>
          <a:p>
            <a:pPr marL="457200" indent="-457200">
              <a:buAutoNum type="arabicPeriod"/>
            </a:pPr>
            <a:endParaRPr lang="en-IN" sz="2000" b="1" dirty="0"/>
          </a:p>
          <a:p>
            <a:pPr marL="457200" indent="-457200">
              <a:buAutoNum type="arabicPeriod"/>
            </a:pPr>
            <a:r>
              <a:rPr lang="en-IN" sz="2000" b="1" dirty="0"/>
              <a:t>Job Portal Integration</a:t>
            </a:r>
            <a:r>
              <a:rPr lang="en-IN" sz="2000" dirty="0"/>
              <a:t> –</a:t>
            </a:r>
            <a:br>
              <a:rPr lang="en-IN" sz="2000" dirty="0"/>
            </a:br>
            <a:r>
              <a:rPr lang="en-IN" sz="2000" dirty="0"/>
              <a:t>Integration with job portals can provide role-specific interview preparation based on current job requirements and vacancies.</a:t>
            </a:r>
          </a:p>
          <a:p>
            <a:pPr marL="0" marR="0" lvl="0" indent="0" rtl="0">
              <a:lnSpc>
                <a:spcPct val="162162"/>
              </a:lnSpc>
              <a:spcBef>
                <a:spcPts val="0"/>
              </a:spcBef>
              <a:spcAft>
                <a:spcPts val="0"/>
              </a:spcAft>
              <a:buClr>
                <a:srgbClr val="2B3541"/>
              </a:buClr>
              <a:buSzPts val="1850"/>
              <a:buFont typeface="Times New Roman"/>
              <a:buNone/>
            </a:pPr>
            <a:r>
              <a:rPr lang="en-US" sz="2000" b="0" i="0" u="none" strike="noStrike" cap="none" dirty="0">
                <a:solidFill>
                  <a:srgbClr val="2B3541"/>
                </a:solidFill>
                <a:latin typeface="Times New Roman"/>
                <a:ea typeface="Times New Roman"/>
                <a:cs typeface="Times New Roman"/>
                <a:sym typeface="Times New Roman"/>
              </a:rPr>
              <a:t>.</a:t>
            </a:r>
            <a:endParaRPr sz="20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Certificates Earned - </a:t>
            </a:r>
          </a:p>
          <a:p>
            <a:pPr algn="ctr"/>
            <a:endParaRPr lang="en-US" dirty="0"/>
          </a:p>
        </p:txBody>
      </p:sp>
      <p:pic>
        <p:nvPicPr>
          <p:cNvPr id="4" name="Picture 3">
            <a:extLst>
              <a:ext uri="{FF2B5EF4-FFF2-40B4-BE49-F238E27FC236}">
                <a16:creationId xmlns:a16="http://schemas.microsoft.com/office/drawing/2014/main" id="{1D08A6C2-5162-1A2D-2912-2D61AFCA4406}"/>
              </a:ext>
            </a:extLst>
          </p:cNvPr>
          <p:cNvPicPr>
            <a:picLocks noChangeAspect="1"/>
          </p:cNvPicPr>
          <p:nvPr/>
        </p:nvPicPr>
        <p:blipFill>
          <a:blip r:embed="rId2"/>
          <a:stretch>
            <a:fillRect/>
          </a:stretch>
        </p:blipFill>
        <p:spPr>
          <a:xfrm>
            <a:off x="548640" y="782320"/>
            <a:ext cx="10617200" cy="5557520"/>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762000" y="226391"/>
            <a:ext cx="5510696"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i="0" u="none" strike="noStrike" baseline="0" dirty="0">
                <a:solidFill>
                  <a:srgbClr val="000000"/>
                </a:solidFill>
                <a:latin typeface="Arial"/>
              </a:rPr>
              <a:t>Certificates Earned</a:t>
            </a:r>
            <a:r>
              <a:rPr lang="en-US" sz="2800" b="1" dirty="0"/>
              <a:t> -</a:t>
            </a:r>
            <a:endParaRPr lang="en-US" sz="2800" dirty="0"/>
          </a:p>
          <a:p>
            <a:pPr algn="ctr"/>
            <a:endParaRPr lang="en-US" dirty="0"/>
          </a:p>
        </p:txBody>
      </p:sp>
      <p:pic>
        <p:nvPicPr>
          <p:cNvPr id="8" name="Picture 7">
            <a:extLst>
              <a:ext uri="{FF2B5EF4-FFF2-40B4-BE49-F238E27FC236}">
                <a16:creationId xmlns:a16="http://schemas.microsoft.com/office/drawing/2014/main" id="{BEC68D37-56E3-4574-46CE-8E8371C3210E}"/>
              </a:ext>
            </a:extLst>
          </p:cNvPr>
          <p:cNvPicPr>
            <a:picLocks noChangeAspect="1"/>
          </p:cNvPicPr>
          <p:nvPr/>
        </p:nvPicPr>
        <p:blipFill>
          <a:blip r:embed="rId2"/>
          <a:stretch>
            <a:fillRect/>
          </a:stretch>
        </p:blipFill>
        <p:spPr>
          <a:xfrm rot="5400000">
            <a:off x="3545770" y="-1727273"/>
            <a:ext cx="5130942" cy="10515603"/>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767</TotalTime>
  <Words>809</Words>
  <Application>Microsoft Office PowerPoint</Application>
  <PresentationFormat>Widescreen</PresentationFormat>
  <Paragraphs>120</Paragraphs>
  <Slides>20</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Shilpi Bhakat</cp:lastModifiedBy>
  <cp:revision>9</cp:revision>
  <dcterms:created xsi:type="dcterms:W3CDTF">2025-07-08T05:06:56Z</dcterms:created>
  <dcterms:modified xsi:type="dcterms:W3CDTF">2026-09-09T07:56:14Z</dcterms:modified>
</cp:coreProperties>
</file>